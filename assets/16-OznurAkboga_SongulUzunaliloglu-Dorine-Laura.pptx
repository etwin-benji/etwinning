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Level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Beşiktaş</c:v>
                </c:pt>
                <c:pt idx="1">
                  <c:v>Kadıköy</c:v>
                </c:pt>
                <c:pt idx="2">
                  <c:v>Fatih</c:v>
                </c:pt>
                <c:pt idx="3">
                  <c:v>Esenyurt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80</c:v>
                </c:pt>
                <c:pt idx="2">
                  <c:v>55</c:v>
                </c:pt>
                <c:pt idx="3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Income Level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Beşiktaş</c:v>
                </c:pt>
                <c:pt idx="1">
                  <c:v>Kadıköy</c:v>
                </c:pt>
                <c:pt idx="2">
                  <c:v>Fatih</c:v>
                </c:pt>
                <c:pt idx="3">
                  <c:v>Esenyurt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75</c:v>
                </c:pt>
                <c:pt idx="2">
                  <c:v>50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Neighbourhood Inequality</a:t>
            </a:r>
          </a:p>
          <a:p>
            <a:r>
              <a:t>Istanbul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Turkey – Netherlands eTwinning Project</a:t>
            </a:r>
          </a:p>
          <a:p>
            <a:r>
              <a:t>Comparison of Different Districts in Istanbul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examines neighbourhood inequality in Istanbul.</a:t>
            </a:r>
          </a:p>
          <a:p>
            <a:r>
              <a:t>Different districts are compared based on housing prices, population structure, migration background and average income.</a:t>
            </a:r>
          </a:p>
          <a:p>
            <a:r>
              <a:t>The aim is to understand social and economic differences between neighbourhoods.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Districts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Beşiktaş (high-income, central)</a:t>
            </a:r>
          </a:p>
          <a:p>
            <a:r>
              <a:t>• Kadıköy (developed, cultural center)</a:t>
            </a:r>
          </a:p>
          <a:p>
            <a:r>
              <a:t>• Esenyurt (low-income, high migration)</a:t>
            </a:r>
          </a:p>
          <a:p>
            <a:r>
              <a:t>• Fatih (mixed structure, historical)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Housing Prices (Average)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Beşiktaş: Very high housing prices</a:t>
            </a:r>
          </a:p>
          <a:p>
            <a:r>
              <a:t>• Kadıköy: High housing prices</a:t>
            </a:r>
          </a:p>
          <a:p>
            <a:r>
              <a:t>• Fatih: Medium housing prices</a:t>
            </a:r>
          </a:p>
          <a:p>
            <a:r>
              <a:t>• Esenyurt: Low housing prices</a:t>
            </a:r>
          </a:p>
          <a:p/>
          <a:p>
            <a:r>
              <a:t>Housing prices strongly affect who can live in each neighbourhood.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Housing Price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Population by Age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Beşiktaş &amp; Kadıköy: Mostly adults (25–65)</a:t>
            </a:r>
          </a:p>
          <a:p>
            <a:r>
              <a:t>• Fatih: Families and mixed age groups</a:t>
            </a:r>
          </a:p>
          <a:p>
            <a:r>
              <a:t>• Esenyurt: Many children and young families</a:t>
            </a:r>
          </a:p>
          <a:p/>
          <a:p>
            <a:r>
              <a:t>This shows differences in family structure between districts.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Esenyurt: Very high migration background</a:t>
            </a:r>
          </a:p>
          <a:p>
            <a:r>
              <a:t>• Fatih: High migration background</a:t>
            </a:r>
          </a:p>
          <a:p>
            <a:r>
              <a:t>• Kadıköy &amp; Beşiktaş: Lower migration background</a:t>
            </a:r>
          </a:p>
          <a:p/>
          <a:p>
            <a:r>
              <a:t>Migration background often affects income, education and opportunities.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Income per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Beşiktaş: Very high income</a:t>
            </a:r>
          </a:p>
          <a:p>
            <a:r>
              <a:t>• Kadıköy: High income</a:t>
            </a:r>
          </a:p>
          <a:p>
            <a:r>
              <a:t>• Fatih: Medium income</a:t>
            </a:r>
          </a:p>
          <a:p>
            <a:r>
              <a:t>• Esenyurt: Low income</a:t>
            </a:r>
          </a:p>
          <a:p/>
          <a:p>
            <a:r>
              <a:t>Income inequality is one of the main reasons for neighbourhood inequality.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Income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are clear inequalities between neighbourhoods in Istanbul.</a:t>
            </a:r>
          </a:p>
          <a:p>
            <a:r>
              <a:t>Central districts are wealthier and have better services.</a:t>
            </a:r>
          </a:p>
          <a:p>
            <a:r>
              <a:t>Outer districts have lower income and more social challenges.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Does This Inequality Occur?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Differences in income and job opportunities</a:t>
            </a:r>
          </a:p>
          <a:p>
            <a:r>
              <a:t>• Housing prices and rent levels</a:t>
            </a:r>
          </a:p>
          <a:p>
            <a:r>
              <a:t>• Migration and population density</a:t>
            </a:r>
          </a:p>
          <a:p>
            <a:r>
              <a:t>• Unequal access to education and public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Can We Reduce Inequality?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affordable housing in different districts</a:t>
            </a:r>
          </a:p>
          <a:p>
            <a:r>
              <a:t>• Improve education and schools in low-income areas</a:t>
            </a:r>
          </a:p>
          <a:p>
            <a:r>
              <a:t>• Create more parks and social spaces</a:t>
            </a:r>
          </a:p>
          <a:p>
            <a:r>
              <a:t>• Support integration and youth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